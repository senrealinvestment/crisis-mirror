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71A22"/>
          </a:solidFill>
          <a:ln w="12700">
            <a:solidFill>
              <a:srgbClr val="071A2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0"/>
            <a:ext cx="2560320" cy="5143500"/>
          </a:xfrm>
          <a:prstGeom prst="rect">
            <a:avLst/>
          </a:prstGeom>
          <a:solidFill>
            <a:srgbClr val="0B2834"/>
          </a:solidFill>
          <a:ln w="12700">
            <a:solidFill>
              <a:srgbClr val="0B283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143000"/>
            <a:ext cx="502920" cy="109728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417320"/>
            <a:ext cx="5943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COGNITIVE COMPANION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457200" y="2103120"/>
            <a:ext cx="5760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Camera-free smart-glasses ambient AI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critical care simulation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457200" y="2971800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protocol cues  ·  Human remains decision-maker  ·  Closed quality loop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812280" y="96012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812280" y="1197864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 lab pilot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812280" y="178308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LAW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812280" y="2020824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wearable camera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812280" y="260604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812280" y="2843784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VCU Anesthesiology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812280" y="342900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812280" y="3666744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$12.5k preferred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57200" y="47091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Formerly Crisis Mirror  ·  July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BFC"/>
          </a:solidFill>
          <a:ln w="12700">
            <a:solidFill>
              <a:srgbClr val="F8FB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5603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5029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71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Crisis collapses bandwidth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39776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D1E7E7"/>
            </a:solidFill>
            <a:prstDash val="solid"/>
          </a:ln>
          <a:effectLst>
            <a:outerShdw sx="100000" sy="100000" kx="0" ky="0" algn="bl" rotWithShape="0" blurRad="127000" dist="38100" dir="16200000">
              <a:srgbClr val="071A22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85800" y="1417320"/>
            <a:ext cx="128016" cy="128016"/>
          </a:xfrm>
          <a:prstGeom prst="roundRect">
            <a:avLst>
              <a:gd name="adj" fmla="val 28571"/>
            </a:avLst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134416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71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Freeze &amp; fixation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85800" y="1783080"/>
            <a:ext cx="3520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Learners stall or tunnel under load. Attendings carry the full cognitive stack.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663440" y="1143000"/>
            <a:ext cx="39776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D1E7E7"/>
            </a:solidFill>
            <a:prstDash val="solid"/>
          </a:ln>
          <a:effectLst>
            <a:outerShdw sx="100000" sy="100000" kx="0" ky="0" algn="bl" rotWithShape="0" blurRad="127000" dist="38100" dir="16200000">
              <a:srgbClr val="071A22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92040" y="1417320"/>
            <a:ext cx="128016" cy="128016"/>
          </a:xfrm>
          <a:prstGeom prst="roundRect">
            <a:avLst>
              <a:gd name="adj" fmla="val 28571"/>
            </a:avLst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66360" y="134416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71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Delayed, uneven debrief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892040" y="1783080"/>
            <a:ext cx="3520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arrives after the moment. Protocol checks are hard to rehearse at tempo.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2743200"/>
            <a:ext cx="39776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D1E7E7"/>
            </a:solidFill>
            <a:prstDash val="solid"/>
          </a:ln>
          <a:effectLst>
            <a:outerShdw sx="100000" sy="100000" kx="0" ky="0" algn="bl" rotWithShape="0" blurRad="127000" dist="38100" dir="16200000">
              <a:srgbClr val="071A22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85800" y="3017520"/>
            <a:ext cx="128016" cy="128016"/>
          </a:xfrm>
          <a:prstGeom prst="roundRect">
            <a:avLst>
              <a:gd name="adj" fmla="val 28571"/>
            </a:avLst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60120" y="294436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71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Wearable video is a non-starter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85800" y="3383280"/>
            <a:ext cx="3520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Face-worn cameras in a transplant ICU are a PHI, consent, and culture problem.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663440" y="2743200"/>
            <a:ext cx="39776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D1E7E7"/>
            </a:solidFill>
            <a:prstDash val="solid"/>
          </a:ln>
          <a:effectLst>
            <a:outerShdw sx="100000" sy="100000" kx="0" ky="0" algn="bl" rotWithShape="0" blurRad="127000" dist="38100" dir="16200000">
              <a:srgbClr val="071A22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892040" y="3017520"/>
            <a:ext cx="128016" cy="128016"/>
          </a:xfrm>
          <a:prstGeom prst="roundRect">
            <a:avLst>
              <a:gd name="adj" fmla="val 28571"/>
            </a:avLst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166360" y="294436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71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Rare high-stakes events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892040" y="3383280"/>
            <a:ext cx="3520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Tx ICU decompensations need reproducible teaching — starting with reperfusion instability.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11480" y="4828032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Cognitive Companion  ·  VCU Anesthesiology  ·  Sim-first  ·  Camera-free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321040" y="482803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BFC"/>
          </a:solidFill>
          <a:ln w="12700">
            <a:solidFill>
              <a:srgbClr val="F8FB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5603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5029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71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pocket protocol whisper — not an AI intensivist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8229600" cy="1097280"/>
          </a:xfrm>
          <a:prstGeom prst="roundRect">
            <a:avLst>
              <a:gd name="adj" fmla="val 8333"/>
            </a:avLst>
          </a:prstGeom>
          <a:solidFill>
            <a:srgbClr val="0B2834"/>
          </a:solidFill>
          <a:ln w="12700">
            <a:solidFill>
              <a:srgbClr val="0B283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23444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Ambient audio from clinician glasses (or phone) feeds a local protocol brain on a nearby phone/iPad that delivers a discrete cue — short HUD text + tone. The clinician acts. We log whether the cue was helpful and accurate for offline training.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331720"/>
            <a:ext cx="397764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D1E7E7"/>
            </a:solidFill>
            <a:prstDash val="solid"/>
          </a:ln>
          <a:effectLst>
            <a:outerShdw sx="100000" sy="100000" kx="0" ky="0" algn="bl" rotWithShape="0" blurRad="127000" dist="38100" dir="16200000">
              <a:srgbClr val="071A22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85800" y="25146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31520" y="2971800"/>
            <a:ext cx="109728" cy="109728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288036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Cognitive forcing for decompensations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31520" y="3319272"/>
            <a:ext cx="109728" cy="109728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05840" y="3227832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 + learners first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31520" y="3666744"/>
            <a:ext cx="109728" cy="109728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05840" y="3575304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Camera-free wearable path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31520" y="4014216"/>
            <a:ext cx="109728" cy="109728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05840" y="3922776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 cue-quality loop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709160" y="2331720"/>
            <a:ext cx="397764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D1E7E7"/>
            </a:solidFill>
            <a:prstDash val="solid"/>
          </a:ln>
          <a:effectLst>
            <a:outerShdw sx="100000" sy="100000" kx="0" ky="0" algn="bl" rotWithShape="0" blurRad="127000" dist="38100" dir="16200000">
              <a:srgbClr val="071A22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937760" y="25146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11D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NOT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983480" y="2971800"/>
            <a:ext cx="109728" cy="109728"/>
          </a:xfrm>
          <a:prstGeom prst="ellipse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257800" y="288036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Body-worn video surveillance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983480" y="3319272"/>
            <a:ext cx="109728" cy="109728"/>
          </a:xfrm>
          <a:prstGeom prst="ellipse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257800" y="3227832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Autodiagnosis or auto orders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983480" y="3666744"/>
            <a:ext cx="109728" cy="109728"/>
          </a:xfrm>
          <a:prstGeom prst="ellipse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257800" y="3575304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Always-on cloud wiretap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4983480" y="4014216"/>
            <a:ext cx="109728" cy="109728"/>
          </a:xfrm>
          <a:prstGeom prst="ellipse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257800" y="3922776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replacement for judgment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11480" y="4828032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Cognitive Companion  ·  VCU Anesthesiology  ·  Sim-first  ·  Camera-free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321040" y="482803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BFC"/>
          </a:solidFill>
          <a:ln w="12700">
            <a:solidFill>
              <a:srgbClr val="F8FB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5603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PHYSICS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5029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71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Sense → Reason → Cue → Act → Label → Train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269748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D1E7E7"/>
            </a:solidFill>
            <a:prstDash val="solid"/>
          </a:ln>
          <a:effectLst>
            <a:outerShdw sx="100000" sy="100000" kx="0" ky="0" algn="bl" rotWithShape="0" blurRad="127000" dist="38100" dir="16200000">
              <a:srgbClr val="071A22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126187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153619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71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0080" y="192024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Ambient listening via glasses mics and/or phone. Gated when possible.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91840" y="1097280"/>
            <a:ext cx="269748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D1E7E7"/>
            </a:solidFill>
            <a:prstDash val="solid"/>
          </a:ln>
          <a:effectLst>
            <a:outerShdw sx="100000" sy="100000" kx="0" ky="0" algn="bl" rotWithShape="0" blurRad="127000" dist="38100" dir="16200000">
              <a:srgbClr val="071A22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474720" y="126187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474720" y="153619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71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Reason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474720" y="192024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Cognitive-forcing suggestion. Local protocol pack first; evidence API second.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26480" y="1097280"/>
            <a:ext cx="269748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D1E7E7"/>
            </a:solidFill>
            <a:prstDash val="solid"/>
          </a:ln>
          <a:effectLst>
            <a:outerShdw sx="100000" sy="100000" kx="0" ky="0" algn="bl" rotWithShape="0" blurRad="127000" dist="38100" dir="16200000">
              <a:srgbClr val="071A22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309360" y="126187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309360" y="153619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71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Cue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309360" y="192024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Tone + ≤8-word HUD text. Discrete in ICU. No free-form speech during crisis.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2788920"/>
            <a:ext cx="269748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D1E7E7"/>
            </a:solidFill>
            <a:prstDash val="solid"/>
          </a:ln>
          <a:effectLst>
            <a:outerShdw sx="100000" sy="100000" kx="0" ky="0" algn="bl" rotWithShape="0" blurRad="127000" dist="38100" dir="16200000">
              <a:srgbClr val="071A22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40080" y="295351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0080" y="322783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71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40080" y="361188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verbal response or clinical action. Human remains decision-maker.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291840" y="2788920"/>
            <a:ext cx="269748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D1E7E7"/>
            </a:solidFill>
            <a:prstDash val="solid"/>
          </a:ln>
          <a:effectLst>
            <a:outerShdw sx="100000" sy="100000" kx="0" ky="0" algn="bl" rotWithShape="0" blurRad="127000" dist="38100" dir="16200000">
              <a:srgbClr val="071A22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3474720" y="295351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474720" y="322783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71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Label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3474720" y="361188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Helpful? Accurate? Cost / latency? Required for every fired cue eventually.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126480" y="2788920"/>
            <a:ext cx="269748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D1E7E7"/>
            </a:solidFill>
            <a:prstDash val="solid"/>
          </a:ln>
          <a:effectLst>
            <a:outerShdw sx="100000" sy="100000" kx="0" ky="0" algn="bl" rotWithShape="0" blurRad="127000" dist="38100" dir="16200000">
              <a:srgbClr val="071A22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309360" y="295351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309360" y="322783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71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6309360" y="361188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policy / model update. Never silent online self-mod at bedside.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11480" y="4828032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Cognitive Companion  ·  VCU Anesthesiology  ·  Sim-first  ·  Camera-free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8321040" y="482803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BFC"/>
          </a:solidFill>
          <a:ln w="12700">
            <a:solidFill>
              <a:srgbClr val="F8FB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5603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5029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71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the brain lives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2697480" cy="3383280"/>
          </a:xfrm>
          <a:prstGeom prst="roundRect">
            <a:avLst>
              <a:gd name="adj" fmla="val 4068"/>
            </a:avLst>
          </a:prstGeom>
          <a:solidFill>
            <a:srgbClr val="FFFFFF"/>
          </a:solidFill>
          <a:ln w="12700">
            <a:solidFill>
              <a:srgbClr val="D1E7E7"/>
            </a:solidFill>
            <a:prstDash val="solid"/>
          </a:ln>
          <a:effectLst>
            <a:outerShdw sx="100000" sy="100000" kx="0" ky="0" algn="bl" rotWithShape="0" blurRad="127000" dist="38100" dir="16200000">
              <a:srgbClr val="071A22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85800" y="128016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353312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85800" y="196596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71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Glasses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85800" y="228600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 wearable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85800" y="274320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 the room + show/play short cue. Tiny computer. No camera.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85800" y="384048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7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+ mics (+ bone conduction)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91840" y="1051560"/>
            <a:ext cx="2697480" cy="3383280"/>
          </a:xfrm>
          <a:prstGeom prst="roundRect">
            <a:avLst>
              <a:gd name="adj" fmla="val 4068"/>
            </a:avLst>
          </a:prstGeom>
          <a:solidFill>
            <a:srgbClr val="FFFFFF"/>
          </a:solidFill>
          <a:ln w="12700">
            <a:solidFill>
              <a:srgbClr val="D1E7E7"/>
            </a:solidFill>
            <a:prstDash val="solid"/>
          </a:ln>
          <a:effectLst>
            <a:outerShdw sx="100000" sy="100000" kx="0" ky="0" algn="bl" rotWithShape="0" blurRad="127000" dist="38100" dir="16200000">
              <a:srgbClr val="071A22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520440" y="128016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0B2834"/>
          </a:solidFill>
          <a:ln w="12700">
            <a:solidFill>
              <a:srgbClr val="0B283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520440" y="1353312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520440" y="196596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71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Edge brain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3520440" y="228600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/ iPad nearby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520440" y="274320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gate → local protocols → safety → send cue. Label taps after.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520440" y="384048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7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iPhone or iPad in pocket / belt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126480" y="1051560"/>
            <a:ext cx="2697480" cy="3383280"/>
          </a:xfrm>
          <a:prstGeom prst="roundRect">
            <a:avLst>
              <a:gd name="adj" fmla="val 4068"/>
            </a:avLst>
          </a:prstGeom>
          <a:solidFill>
            <a:srgbClr val="FFFFFF"/>
          </a:solidFill>
          <a:ln w="12700">
            <a:solidFill>
              <a:srgbClr val="D1E7E7"/>
            </a:solidFill>
            <a:prstDash val="solid"/>
          </a:ln>
          <a:effectLst>
            <a:outerShdw sx="100000" sy="100000" kx="0" ky="0" algn="bl" rotWithShape="0" blurRad="127000" dist="38100" dir="16200000">
              <a:srgbClr val="071A22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355080" y="128016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55080" y="1353312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355080" y="196596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71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 consult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6355080" y="228600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cloud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355080" y="274320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Broader evidence on demand — stripped questions, not room audio dumps.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355080" y="384048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7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OpenEvidence / UpToDate-class APIs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11480" y="4828032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Cognitive Companion  ·  VCU Anesthesiology  ·  Sim-first  ·  Camera-free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321040" y="482803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BFC"/>
          </a:solidFill>
          <a:ln w="12700">
            <a:solidFill>
              <a:srgbClr val="F8FB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5603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LAW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5029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71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wearable camera in v1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8229600" cy="914400"/>
          </a:xfrm>
          <a:prstGeom prst="roundRect">
            <a:avLst>
              <a:gd name="adj" fmla="val 10000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23444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7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face-worn camera in a transplant ICU is a PHI + consent + culture problem — not just a tech feature. v1 senses with sound only.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194560"/>
            <a:ext cx="269748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D1E7E7"/>
            </a:solidFill>
            <a:prstDash val="solid"/>
          </a:ln>
          <a:effectLst>
            <a:outerShdw sx="100000" sy="100000" kx="0" ky="0" algn="bl" rotWithShape="0" blurRad="127000" dist="38100" dir="16200000">
              <a:srgbClr val="071A22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85800" y="24231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85800" y="278892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71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Consent optics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85800" y="324612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Patients, families, and staff enter frame without clean consent paths.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291840" y="2194560"/>
            <a:ext cx="269748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D1E7E7"/>
            </a:solidFill>
            <a:prstDash val="solid"/>
          </a:ln>
          <a:effectLst>
            <a:outerShdw sx="100000" sy="100000" kx="0" ky="0" algn="bl" rotWithShape="0" blurRad="127000" dist="38100" dir="16200000">
              <a:srgbClr val="071A22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520440" y="24231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520440" y="278892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71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IRB / compliance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520440" y="324612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Harder approvals and unit questions: “what is that recording?”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126480" y="2194560"/>
            <a:ext cx="269748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D1E7E7"/>
            </a:solidFill>
            <a:prstDash val="solid"/>
          </a:ln>
          <a:effectLst>
            <a:outerShdw sx="100000" sy="100000" kx="0" ky="0" algn="bl" rotWithShape="0" blurRad="127000" dist="38100" dir="16200000">
              <a:srgbClr val="071A22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355080" y="24231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355080" y="278892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71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v0 value path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355080" y="324612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Speech + protocol context carry the trigger. Vision can wait for a separate program.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11480" y="4828032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Cognitive Companion  ·  VCU Anesthesiology  ·  Sim-first  ·  Camera-free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321040" y="482803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BFC"/>
          </a:solidFill>
          <a:ln w="12700">
            <a:solidFill>
              <a:srgbClr val="F8FB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5603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5029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71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paths — start before glasses arrive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2697480" cy="3383280"/>
          </a:xfrm>
          <a:prstGeom prst="roundRect">
            <a:avLst>
              <a:gd name="adj" fmla="val 4068"/>
            </a:avLst>
          </a:prstGeom>
          <a:solidFill>
            <a:srgbClr val="FFFFFF"/>
          </a:solidFill>
          <a:ln w="12700">
            <a:solidFill>
              <a:srgbClr val="D1E7E7"/>
            </a:solidFill>
            <a:prstDash val="solid"/>
          </a:ln>
          <a:effectLst>
            <a:outerShdw sx="100000" sy="100000" kx="0" ky="0" algn="bl" rotWithShape="0" blurRad="127000" dist="38100" dir="16200000">
              <a:srgbClr val="071A22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051560"/>
            <a:ext cx="2697480" cy="822960"/>
          </a:xfrm>
          <a:prstGeom prst="roundRect">
            <a:avLst>
              <a:gd name="adj" fmla="val 13333"/>
            </a:avLst>
          </a:prstGeom>
          <a:solidFill>
            <a:srgbClr val="0B2834"/>
          </a:solidFill>
          <a:ln w="12700">
            <a:solidFill>
              <a:srgbClr val="0B283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600200"/>
            <a:ext cx="2697480" cy="274320"/>
          </a:xfrm>
          <a:prstGeom prst="rect">
            <a:avLst/>
          </a:prstGeom>
          <a:solidFill>
            <a:srgbClr val="0B2834"/>
          </a:solidFill>
          <a:ln w="12700">
            <a:solidFill>
              <a:srgbClr val="0B283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170432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LEAN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141732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Brilliant Labs Halo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0080" y="205740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hard-off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85800" y="2560320"/>
            <a:ext cx="91440" cy="91440"/>
          </a:xfrm>
          <a:prstGeom prst="ellipse">
            <a:avLst/>
          </a:prstGeom>
          <a:solidFill>
            <a:srgbClr val="0B2834"/>
          </a:solidFill>
          <a:ln w="12700">
            <a:solidFill>
              <a:srgbClr val="0B283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24688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stack + SDKs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85800" y="2944368"/>
            <a:ext cx="91440" cy="91440"/>
          </a:xfrm>
          <a:prstGeom prst="ellipse">
            <a:avLst/>
          </a:prstGeom>
          <a:solidFill>
            <a:srgbClr val="0B2834"/>
          </a:solidFill>
          <a:ln w="12700">
            <a:solidFill>
              <a:srgbClr val="0B283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285292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 bone conduction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85800" y="3328416"/>
            <a:ext cx="91440" cy="91440"/>
          </a:xfrm>
          <a:prstGeom prst="ellipse">
            <a:avLst/>
          </a:prstGeom>
          <a:solidFill>
            <a:srgbClr val="0B2834"/>
          </a:solidFill>
          <a:ln w="12700">
            <a:solidFill>
              <a:srgbClr val="0B283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3236976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HUD + mics included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85800" y="3712464"/>
            <a:ext cx="91440" cy="91440"/>
          </a:xfrm>
          <a:prstGeom prst="ellipse">
            <a:avLst/>
          </a:prstGeom>
          <a:solidFill>
            <a:srgbClr val="0B2834"/>
          </a:solidFill>
          <a:ln w="12700">
            <a:solidFill>
              <a:srgbClr val="0B283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3621024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powered off in clinical/sim profile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291840" y="1051560"/>
            <a:ext cx="2697480" cy="3383280"/>
          </a:xfrm>
          <a:prstGeom prst="roundRect">
            <a:avLst>
              <a:gd name="adj" fmla="val 4068"/>
            </a:avLst>
          </a:prstGeom>
          <a:solidFill>
            <a:srgbClr val="FFFFFF"/>
          </a:solidFill>
          <a:ln w="12700">
            <a:solidFill>
              <a:srgbClr val="D1E7E7"/>
            </a:solidFill>
            <a:prstDash val="solid"/>
          </a:ln>
          <a:effectLst>
            <a:outerShdw sx="100000" sy="100000" kx="0" ky="0" algn="bl" rotWithShape="0" blurRad="127000" dist="38100" dir="16200000">
              <a:srgbClr val="071A22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91840" y="1051560"/>
            <a:ext cx="2697480" cy="822960"/>
          </a:xfrm>
          <a:prstGeom prst="roundRect">
            <a:avLst>
              <a:gd name="adj" fmla="val 13333"/>
            </a:avLst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291840" y="1600200"/>
            <a:ext cx="2697480" cy="27432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74720" y="1170432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PRIVACY-NATIVE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474720" y="141732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 Realities G2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3474720" y="205740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camera by design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3520440" y="2560320"/>
            <a:ext cx="91440" cy="91440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749040" y="24688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discrete text HUD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3520440" y="2944368"/>
            <a:ext cx="91440" cy="91440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749040" y="285292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mics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3520440" y="3328416"/>
            <a:ext cx="91440" cy="91440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749040" y="3236976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onboard speakers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3520440" y="3712464"/>
            <a:ext cx="91440" cy="91440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749040" y="3621024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Tone via phone / BC earbuds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6126480" y="1051560"/>
            <a:ext cx="2697480" cy="3383280"/>
          </a:xfrm>
          <a:prstGeom prst="roundRect">
            <a:avLst>
              <a:gd name="adj" fmla="val 4068"/>
            </a:avLst>
          </a:prstGeom>
          <a:solidFill>
            <a:srgbClr val="FFFFFF"/>
          </a:solidFill>
          <a:ln w="12700">
            <a:solidFill>
              <a:srgbClr val="D1E7E7"/>
            </a:solidFill>
            <a:prstDash val="solid"/>
          </a:ln>
          <a:effectLst>
            <a:outerShdw sx="100000" sy="100000" kx="0" ky="0" algn="bl" rotWithShape="0" blurRad="127000" dist="38100" dir="16200000">
              <a:srgbClr val="071A22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126480" y="1051560"/>
            <a:ext cx="2697480" cy="822960"/>
          </a:xfrm>
          <a:prstGeom prst="roundRect">
            <a:avLst>
              <a:gd name="adj" fmla="val 13333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126480" y="1600200"/>
            <a:ext cx="2697480" cy="2743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309360" y="1170432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ONE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309360" y="141732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Phone only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6309360" y="205740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 sim path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6355080" y="2560320"/>
            <a:ext cx="91440" cy="9144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583680" y="24688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 + headphones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6355080" y="2944368"/>
            <a:ext cx="91440" cy="9144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583680" y="285292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On-screen mock HUD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6355080" y="3328416"/>
            <a:ext cx="91440" cy="9144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583680" y="3236976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label metrics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6355080" y="3712464"/>
            <a:ext cx="91440" cy="9144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583680" y="3621024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hardware delay risk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411480" y="4828032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Cognitive Companion  ·  VCU Anesthesiology  ·  Sim-first  ·  Camera-free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8321040" y="482803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BFC"/>
          </a:solidFill>
          <a:ln w="12700">
            <a:solidFill>
              <a:srgbClr val="F8FB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5603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12-MONTH PILOT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5029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71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build in the sim lab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269748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D1E7E7"/>
            </a:solidFill>
            <a:prstDash val="solid"/>
          </a:ln>
          <a:effectLst>
            <a:outerShdw sx="100000" sy="100000" kx="0" ky="0" algn="bl" rotWithShape="0" blurRad="127000" dist="38100" dir="16200000">
              <a:srgbClr val="071A22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58368" y="125272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58368" y="15544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71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Sim-only platform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58368" y="19659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Gated audio → phone edge brain → HUD + tone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91840" y="1051560"/>
            <a:ext cx="269748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D1E7E7"/>
            </a:solidFill>
            <a:prstDash val="solid"/>
          </a:ln>
          <a:effectLst>
            <a:outerShdw sx="100000" sy="100000" kx="0" ky="0" algn="bl" rotWithShape="0" blurRad="127000" dist="38100" dir="16200000">
              <a:srgbClr val="071A22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493008" y="125272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493008" y="15544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71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protocol pack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493008" y="19659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VCU / Tx ICU cards — not cloud-only “AI doctor”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126480" y="1051560"/>
            <a:ext cx="269748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D1E7E7"/>
            </a:solidFill>
            <a:prstDash val="solid"/>
          </a:ln>
          <a:effectLst>
            <a:outerShdw sx="100000" sy="100000" kx="0" ky="0" algn="bl" rotWithShape="0" blurRad="127000" dist="38100" dir="16200000">
              <a:srgbClr val="071A22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327648" y="125272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327648" y="15544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71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Safety rules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327648" y="19659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Advisory language · no orders · camera hard-off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2743200"/>
            <a:ext cx="269748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D1E7E7"/>
            </a:solidFill>
            <a:prstDash val="solid"/>
          </a:ln>
          <a:effectLst>
            <a:outerShdw sx="100000" sy="100000" kx="0" ky="0" algn="bl" rotWithShape="0" blurRad="127000" dist="38100" dir="16200000">
              <a:srgbClr val="071A22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58368" y="294436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58368" y="32461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71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Label loop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58368" y="365760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each scenario: Helpful? Accurate? + short note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291840" y="2743200"/>
            <a:ext cx="269748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D1E7E7"/>
            </a:solidFill>
            <a:prstDash val="solid"/>
          </a:ln>
          <a:effectLst>
            <a:outerShdw sx="100000" sy="100000" kx="0" ky="0" algn="bl" rotWithShape="0" blurRad="127000" dist="38100" dir="16200000">
              <a:srgbClr val="071A22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3493008" y="294436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493008" y="32461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71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Metrics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3493008" y="365760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 · %helpful · %accurate · on vs off preference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126480" y="2743200"/>
            <a:ext cx="269748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D1E7E7"/>
            </a:solidFill>
            <a:prstDash val="solid"/>
          </a:ln>
          <a:effectLst>
            <a:outerShdw sx="100000" sy="100000" kx="0" ky="0" algn="bl" rotWithShape="0" blurRad="127000" dist="38100" dir="16200000">
              <a:srgbClr val="071A22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327648" y="294436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327648" y="32461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71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Year-1 exit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6327648" y="365760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 ON on ≥1 scenario class · no harmful action increase · abstract draft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11480" y="4828032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Cognitive Companion  ·  VCU Anesthesiology  ·  Sim-first  ·  Camera-free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8321040" y="482803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BFC"/>
          </a:solidFill>
          <a:ln w="12700">
            <a:solidFill>
              <a:srgbClr val="F8FB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5603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&amp; ASK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5029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71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VCU Anesthesiology simulation pilot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269748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D1E7E7"/>
            </a:solidFill>
            <a:prstDash val="solid"/>
          </a:ln>
          <a:effectLst>
            <a:outerShdw sx="100000" sy="100000" kx="0" ky="0" algn="bl" rotWithShape="0" blurRad="127000" dist="38100" dir="16200000">
              <a:srgbClr val="071A22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1143000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8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 / CLINICAL LEAD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0080" y="141732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71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Sergio Navarrete, MD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0080" y="187452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Tx ICU design · protocols · scholarly output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91840" y="1005840"/>
            <a:ext cx="269748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D1E7E7"/>
            </a:solidFill>
            <a:prstDash val="solid"/>
          </a:ln>
          <a:effectLst>
            <a:outerShdw sx="100000" sy="100000" kx="0" ky="0" algn="bl" rotWithShape="0" blurRad="127000" dist="38100" dir="16200000">
              <a:srgbClr val="071A22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474720" y="1143000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8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 LAB / EDUCATION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474720" y="141732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71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Mike Kazior, MD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474720" y="187452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Curriculum fit · learner access · equipment home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26480" y="1005840"/>
            <a:ext cx="269748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D1E7E7"/>
            </a:solidFill>
            <a:prstDash val="solid"/>
          </a:ln>
          <a:effectLst>
            <a:outerShdw sx="100000" sy="100000" kx="0" ky="0" algn="bl" rotWithShape="0" blurRad="127000" dist="38100" dir="16200000">
              <a:srgbClr val="071A22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309360" y="1143000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8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RESIDENT COLLABORATOR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309360" y="141732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71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Marjo Beltoja, MD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309360" y="187452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ops · learner liaison · labeling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2651760"/>
            <a:ext cx="8229600" cy="1828800"/>
          </a:xfrm>
          <a:prstGeom prst="roundRect">
            <a:avLst>
              <a:gd name="adj" fmla="val 6000"/>
            </a:avLst>
          </a:prstGeom>
          <a:solidFill>
            <a:srgbClr val="0B2834"/>
          </a:solidFill>
          <a:ln w="12700">
            <a:solidFill>
              <a:srgbClr val="0B283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1520" y="28346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DEPARTMENTAL ASK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31520" y="315468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Preferred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31520" y="34290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$12,500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731520" y="38862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Halo ×1–2 + app + scenarios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474720" y="315468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viable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474720" y="34290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$7,500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3474720" y="38862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Halo ×1 + narrower software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217920" y="315468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Phone-only start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217920" y="34290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$4–5k</a:t>
            </a:r>
            <a:endParaRPr lang="en-US" sz="2600" dirty="0"/>
          </a:p>
        </p:txBody>
      </p:sp>
      <p:sp>
        <p:nvSpPr>
          <p:cNvPr id="28" name="Text 26"/>
          <p:cNvSpPr/>
          <p:nvPr/>
        </p:nvSpPr>
        <p:spPr>
          <a:xfrm>
            <a:off x="6217920" y="38862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hardware must wait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11480" y="4828032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Cognitive Companion  ·  VCU Anesthesiology  ·  Sim-first  ·  Camera-free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8321040" y="482803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71A22"/>
          </a:solidFill>
          <a:ln w="12700">
            <a:solidFill>
              <a:srgbClr val="071A2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0"/>
            <a:ext cx="2560320" cy="5143500"/>
          </a:xfrm>
          <a:prstGeom prst="rect">
            <a:avLst/>
          </a:prstGeom>
          <a:solidFill>
            <a:srgbClr val="0B2834"/>
          </a:solidFill>
          <a:ln w="12700">
            <a:solidFill>
              <a:srgbClr val="0B283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11480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12 MONTHS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73152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concept to abstract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640080" cy="502920"/>
          </a:xfrm>
          <a:prstGeom prst="roundRect">
            <a:avLst>
              <a:gd name="adj" fmla="val 14545"/>
            </a:avLst>
          </a:prstGeom>
          <a:solidFill>
            <a:srgbClr val="0F3442"/>
          </a:solidFill>
          <a:ln w="12700">
            <a:solidFill>
              <a:srgbClr val="0F344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481328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80160" y="14630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Halo + cam-off profile · phone app v0 · 2 scenarios · IRB/education path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2057400"/>
            <a:ext cx="640080" cy="502920"/>
          </a:xfrm>
          <a:prstGeom prst="roundRect">
            <a:avLst>
              <a:gd name="adj" fmla="val 14545"/>
            </a:avLst>
          </a:prstGeom>
          <a:solidFill>
            <a:srgbClr val="0F3442"/>
          </a:solidFill>
          <a:ln w="12700">
            <a:solidFill>
              <a:srgbClr val="0F344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167128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280160" y="21488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learner sessions · label data · cue quality iteration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2743200"/>
            <a:ext cx="640080" cy="502920"/>
          </a:xfrm>
          <a:prstGeom prst="roundRect">
            <a:avLst>
              <a:gd name="adj" fmla="val 14545"/>
            </a:avLst>
          </a:prstGeom>
          <a:solidFill>
            <a:srgbClr val="0F3442"/>
          </a:solidFill>
          <a:ln w="12700">
            <a:solidFill>
              <a:srgbClr val="0F344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852928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280160" y="28346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3–5 scenarios · on vs off comparison in sim lab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3429000"/>
            <a:ext cx="640080" cy="502920"/>
          </a:xfrm>
          <a:prstGeom prst="roundRect">
            <a:avLst>
              <a:gd name="adj" fmla="val 14545"/>
            </a:avLst>
          </a:prstGeom>
          <a:solidFill>
            <a:srgbClr val="0F3442"/>
          </a:solidFill>
          <a:ln w="12700">
            <a:solidFill>
              <a:srgbClr val="0F344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538728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Q4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280160" y="35204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report · abstract · society grants · equipment with Kazior lab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766560" y="9601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GETS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766560" y="13716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sim prototype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766560" y="1810512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3+ scenario cards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766560" y="2249424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report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766560" y="2688336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 draft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766560" y="312724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/ no-go for grants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766560" y="35661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Gear stays in sim program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57200" y="47091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Advisory · camera-free · education first  ·  github.com/senrealinvestment/crisis-mirror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Cognitive Companion</dc:title>
  <dc:subject>Camera-free smart-glasses cognitive companion for critical care simulation</dc:subject>
  <dc:creator>Sergio Navarrete, MD · VCU Anesthesiology</dc:creator>
  <cp:lastModifiedBy>Sergio Navarrete, MD · VCU Anesthesiology</cp:lastModifiedBy>
  <cp:revision>1</cp:revision>
  <dcterms:created xsi:type="dcterms:W3CDTF">2026-08-05T01:19:16Z</dcterms:created>
  <dcterms:modified xsi:type="dcterms:W3CDTF">2026-08-05T01:19:16Z</dcterms:modified>
</cp:coreProperties>
</file>